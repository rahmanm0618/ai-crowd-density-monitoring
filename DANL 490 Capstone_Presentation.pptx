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8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3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06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0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69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105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68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713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07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48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35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78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99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A7973-CC09-5963-FEC8-DC3848EDE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D42FF9B0-E237-0F2A-A920-931F5FB8F8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39" t="6484" r="20120" b="-1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DA8C3C-E5EE-420E-9454-FCBD219EB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dirty="0"/>
              <a:t>Privacy-Preserving AI for Crowd Density Monitoring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Capstone Project  DANL 490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Mahdin Rahman, Heavyn Harper, Julian Flemons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010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27D93B38-661A-F600-F7C4-EDBB420244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39" t="6484" r="20120" b="-1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31745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124712"/>
          </a:xfrm>
        </p:spPr>
        <p:txBody>
          <a:bodyPr anchor="b">
            <a:normAutofit/>
          </a:bodyPr>
          <a:lstStyle/>
          <a:p>
            <a:r>
              <a:rPr lang="en-US" sz="2400"/>
              <a:t>Problem Statement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7775" y="674370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183" y="2443480"/>
            <a:ext cx="2475738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320" y="2718054"/>
            <a:ext cx="2579180" cy="3207258"/>
          </a:xfrm>
        </p:spPr>
        <p:txBody>
          <a:bodyPr anchor="t">
            <a:normAutofit fontScale="92500" lnSpcReduction="10000"/>
          </a:bodyPr>
          <a:lstStyle/>
          <a:p>
            <a:endParaRPr lang="en-US" sz="1500" dirty="0"/>
          </a:p>
          <a:p>
            <a:pPr lvl="1"/>
            <a:r>
              <a:rPr lang="en-US" sz="1800" dirty="0"/>
              <a:t>Public-health spaces struggle to monitor crowding and congestion.</a:t>
            </a:r>
          </a:p>
          <a:p>
            <a:pPr lvl="1"/>
            <a:r>
              <a:rPr lang="en-US" sz="1800" dirty="0"/>
              <a:t>Manual methods are inconsistent and resource‑intensive.</a:t>
            </a:r>
          </a:p>
          <a:p>
            <a:pPr lvl="1"/>
            <a:r>
              <a:rPr lang="en-US" sz="1800" dirty="0"/>
              <a:t>Goal: Develop a real-time, privacy-preserving crowd-density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20E65-90D0-3AC9-8553-7B882B780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10FD9ADC-7754-3138-D100-54BD8EE25E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55" r="17434" b="-1"/>
          <a:stretch>
            <a:fillRect/>
          </a:stretch>
        </p:blipFill>
        <p:spPr>
          <a:xfrm>
            <a:off x="2432021" y="10"/>
            <a:ext cx="6711980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B5AC6-0ACD-8A6D-9269-94A5EF076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125728"/>
          </a:xfrm>
        </p:spPr>
        <p:txBody>
          <a:bodyPr anchor="b">
            <a:normAutofit/>
          </a:bodyPr>
          <a:lstStyle/>
          <a:p>
            <a:r>
              <a:rPr lang="en-US" sz="2400" dirty="0"/>
              <a:t>Literature 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7775" y="674370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183" y="2443480"/>
            <a:ext cx="250317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062C4-3B69-E73C-8C8A-F039AAF80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320" y="2718054"/>
            <a:ext cx="2579180" cy="3207258"/>
          </a:xfrm>
        </p:spPr>
        <p:txBody>
          <a:bodyPr anchor="t">
            <a:normAutofit/>
          </a:bodyPr>
          <a:lstStyle/>
          <a:p>
            <a:endParaRPr lang="en-US" sz="1500" dirty="0"/>
          </a:p>
          <a:p>
            <a:pPr lvl="1"/>
            <a:r>
              <a:rPr lang="en-US" sz="1500" dirty="0"/>
              <a:t>Decentralized, privacy-aware CV models (Chen &amp; Li, 2024).</a:t>
            </a:r>
          </a:p>
          <a:p>
            <a:pPr lvl="1"/>
            <a:r>
              <a:rPr lang="en-US" sz="1500" dirty="0"/>
              <a:t>Attention-based crowd counting (Lien et al., 2024).</a:t>
            </a:r>
          </a:p>
          <a:p>
            <a:pPr lvl="1"/>
            <a:r>
              <a:rPr lang="en-US" sz="1500" dirty="0"/>
              <a:t>AI in hygiene + infection control (Singh 2020; Hao 2023).</a:t>
            </a:r>
          </a:p>
        </p:txBody>
      </p:sp>
    </p:spTree>
    <p:extLst>
      <p:ext uri="{BB962C8B-B14F-4D97-AF65-F5344CB8AC3E}">
        <p14:creationId xmlns:p14="http://schemas.microsoft.com/office/powerpoint/2010/main" val="2315987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12A55-E2C6-17A9-6613-F5ED386B5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A2C3-0488-2B98-EDE9-A65BF70C6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200" dirty="0"/>
              <a:t>Data Sources</a:t>
            </a:r>
            <a:endParaRPr lang="en-US" sz="3100" dirty="0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DFC993CE-C8A7-66AD-D453-3072B561F0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1" b="27634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8A34C-D87D-9922-74A2-36F88DCE0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endParaRPr lang="en-US" sz="1600" dirty="0"/>
          </a:p>
          <a:p>
            <a:pPr lvl="1"/>
            <a:r>
              <a:rPr lang="en-US" sz="1600" dirty="0" err="1"/>
              <a:t>ShanghaiTech</a:t>
            </a:r>
            <a:r>
              <a:rPr lang="en-US" sz="1600" dirty="0"/>
              <a:t> Crowd Counting Dataset (non-identifying).</a:t>
            </a:r>
          </a:p>
          <a:p>
            <a:pPr lvl="1"/>
            <a:r>
              <a:rPr lang="en-US" sz="1600" dirty="0"/>
              <a:t>UCF-QNRF (conceptual reference).</a:t>
            </a:r>
          </a:p>
          <a:p>
            <a:pPr lvl="1"/>
            <a:r>
              <a:rPr lang="en-US" sz="1600" dirty="0"/>
              <a:t>All datasets contain no facial recognition or PII. </a:t>
            </a:r>
          </a:p>
        </p:txBody>
      </p:sp>
    </p:spTree>
    <p:extLst>
      <p:ext uri="{BB962C8B-B14F-4D97-AF65-F5344CB8AC3E}">
        <p14:creationId xmlns:p14="http://schemas.microsoft.com/office/powerpoint/2010/main" val="1734994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8BC088-4731-FE8E-2FEE-7B86F9E9E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3509F-62D1-688F-0530-4AD5BBC37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US" sz="4300"/>
              <a:t>Methodology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A343A-60B2-F6F6-E14D-77DDCE5C3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endParaRPr lang="en-US" sz="1900"/>
          </a:p>
          <a:p>
            <a:pPr lvl="1"/>
            <a:r>
              <a:rPr lang="en-US" sz="1900"/>
              <a:t>TinyCSRNet model for density-map regression.</a:t>
            </a:r>
          </a:p>
          <a:p>
            <a:pPr lvl="1"/>
            <a:r>
              <a:rPr lang="en-US" sz="1900"/>
              <a:t>PyTorch training with MSE loss, LR scheduling.</a:t>
            </a:r>
          </a:p>
          <a:p>
            <a:pPr lvl="1"/>
            <a:r>
              <a:rPr lang="en-US" sz="1900"/>
              <a:t>Streaming inference pipeline with no video retention.</a:t>
            </a:r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1EBB4781-134E-BDA3-B970-3FC3FF8B8C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50" r="24029" b="-1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6446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F4E7E-1F73-5B5C-14B4-8CC04E35F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C8975-9DBC-3166-36B3-3C4D54BFA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US" sz="4700" dirty="0"/>
              <a:t>Data Pipeline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E220D-FB98-B60F-1370-3E88A2704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endParaRPr lang="en-US" sz="1900" dirty="0"/>
          </a:p>
          <a:p>
            <a:pPr lvl="1"/>
            <a:r>
              <a:rPr lang="en-US" sz="1900" dirty="0"/>
              <a:t>Image preprocessing &amp; normalization.</a:t>
            </a:r>
          </a:p>
          <a:p>
            <a:pPr lvl="1"/>
            <a:r>
              <a:rPr lang="en-US" sz="1900" dirty="0"/>
              <a:t>Density-map training.</a:t>
            </a:r>
          </a:p>
          <a:p>
            <a:pPr lvl="1"/>
            <a:r>
              <a:rPr lang="en-US" sz="1900" dirty="0"/>
              <a:t>Time-series conversion + rolling averages + MAD thresholds.</a:t>
            </a:r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BBD9888F-8F8D-9EA7-9563-156216FB6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50" r="24029" b="-1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37106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3A2B2C-9D68-1F28-689F-0F7B504C2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2ED6F9-63C3-4A8D-9BB4-1EA6253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421890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EF40B6-8F73-A269-DB17-9DBC2F747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670" y="4495466"/>
            <a:ext cx="2708910" cy="1536192"/>
          </a:xfrm>
        </p:spPr>
        <p:txBody>
          <a:bodyPr>
            <a:normAutofit/>
          </a:bodyPr>
          <a:lstStyle/>
          <a:p>
            <a:r>
              <a:rPr lang="en-US" sz="2800"/>
              <a:t>Model Results</a:t>
            </a:r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F2935FC3-0618-EEE9-3C46-4636B8A1B7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" b="24969"/>
          <a:stretch>
            <a:fillRect/>
          </a:stretch>
        </p:blipFill>
        <p:spPr>
          <a:xfrm>
            <a:off x="20" y="10"/>
            <a:ext cx="9143980" cy="399447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491151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525670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3155-DDAF-6DD4-B3FA-260B7EAE4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1869" y="4495466"/>
            <a:ext cx="4545767" cy="1536192"/>
          </a:xfrm>
        </p:spPr>
        <p:txBody>
          <a:bodyPr anchor="ctr">
            <a:normAutofit/>
          </a:bodyPr>
          <a:lstStyle/>
          <a:p>
            <a:endParaRPr lang="en-US" sz="1500" dirty="0"/>
          </a:p>
          <a:p>
            <a:pPr lvl="1"/>
            <a:r>
              <a:rPr lang="en-US" sz="1500" dirty="0"/>
              <a:t>MAE stabilized around ~260–300.</a:t>
            </a:r>
          </a:p>
          <a:p>
            <a:pPr lvl="1"/>
            <a:r>
              <a:rPr lang="en-US" sz="1500" dirty="0"/>
              <a:t>Predicted density maps align with GT structure.</a:t>
            </a:r>
          </a:p>
          <a:p>
            <a:pPr lvl="1"/>
            <a:r>
              <a:rPr lang="en-US" sz="1500" dirty="0"/>
              <a:t>Occupancy estimates fluctuate realistically across time.</a:t>
            </a:r>
          </a:p>
        </p:txBody>
      </p:sp>
      <p:pic>
        <p:nvPicPr>
          <p:cNvPr id="20" name="Picture 1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595F2B7-3269-8A3C-46BF-FA881152A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5973"/>
            <a:ext cx="9144000" cy="356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3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E512C-1D99-2E8D-46B5-3ED6AF48D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4123" y="3164497"/>
            <a:ext cx="4355594" cy="3030557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E281351F-43AB-9C1E-EE23-47C7D1D46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36" r="20017"/>
          <a:stretch>
            <a:fillRect/>
          </a:stretch>
        </p:blipFill>
        <p:spPr>
          <a:xfrm>
            <a:off x="3028949" y="10"/>
            <a:ext cx="6120019" cy="6875809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0A957-1464-B835-BDD1-602B5424A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54" y="2950387"/>
            <a:ext cx="2289220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3200" dirty="0">
                <a:solidFill>
                  <a:srgbClr val="FFFFFF"/>
                </a:solidFill>
              </a:rPr>
              <a:t>Python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9DE1B-344C-389A-EFF3-A6784CBA3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41" y="743803"/>
            <a:ext cx="2106633" cy="13823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1" indent="0" algn="r">
              <a:spcBef>
                <a:spcPts val="1000"/>
              </a:spcBef>
              <a:buNone/>
            </a:pPr>
            <a:r>
              <a:rPr lang="en-US" sz="1700" dirty="0">
                <a:solidFill>
                  <a:srgbClr val="FFFFFF"/>
                </a:solidFill>
              </a:rPr>
              <a:t>Occupancy Trend Line Chart included.</a:t>
            </a:r>
          </a:p>
        </p:txBody>
      </p:sp>
      <p:pic>
        <p:nvPicPr>
          <p:cNvPr id="6" name="Picture 5" descr="A graph with blue lines and orange lines">
            <a:extLst>
              <a:ext uri="{FF2B5EF4-FFF2-40B4-BE49-F238E27FC236}">
                <a16:creationId xmlns:a16="http://schemas.microsoft.com/office/drawing/2014/main" id="{F526111B-1E2A-E831-D7F2-3296A7A79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49" y="948458"/>
            <a:ext cx="6120019" cy="496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801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70E17-44C3-9A40-BE80-C57175BB7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4123" y="3164497"/>
            <a:ext cx="4355594" cy="3030557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4D294A32-4388-7901-535D-B13083C977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36" r="20017"/>
          <a:stretch>
            <a:fillRect/>
          </a:stretch>
        </p:blipFill>
        <p:spPr>
          <a:xfrm>
            <a:off x="3028949" y="10"/>
            <a:ext cx="6120019" cy="6875809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0AD2E2-B43C-D67C-EDFA-C5176976B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54" y="2950387"/>
            <a:ext cx="2289220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3200" dirty="0">
                <a:solidFill>
                  <a:schemeClr val="bg1"/>
                </a:solidFill>
              </a:rPr>
              <a:t>Density Map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04E6E-5E8E-5B9D-8D13-067DF43C7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41" y="743803"/>
            <a:ext cx="2106633" cy="13823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1"/>
            <a:r>
              <a:rPr lang="en-US" sz="1800" dirty="0">
                <a:solidFill>
                  <a:schemeClr val="bg1"/>
                </a:solidFill>
              </a:rPr>
              <a:t>GT vs Pred Density Maps included.</a:t>
            </a:r>
          </a:p>
        </p:txBody>
      </p:sp>
      <p:pic>
        <p:nvPicPr>
          <p:cNvPr id="6" name="Picture 5" descr="A purple square with black text&#10;&#10;AI-generated content may be incorrect.">
            <a:extLst>
              <a:ext uri="{FF2B5EF4-FFF2-40B4-BE49-F238E27FC236}">
                <a16:creationId xmlns:a16="http://schemas.microsoft.com/office/drawing/2014/main" id="{2373F2A1-D893-C5E7-1242-E6CEF328A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48" y="948458"/>
            <a:ext cx="6115051" cy="496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7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4DE4D-9F57-D911-9484-561D29AA1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2EA737C8-4220-42A9-387F-D78CD73ECE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7" r="1" b="1"/>
          <a:stretch>
            <a:fillRect/>
          </a:stretch>
        </p:blipFill>
        <p:spPr>
          <a:xfrm>
            <a:off x="20" y="10"/>
            <a:ext cx="9143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9144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B559C-B689-8B8A-303D-42D96927B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7" y="5746071"/>
            <a:ext cx="5261624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Tableau Dashboard</a:t>
            </a:r>
            <a:endParaRPr lang="en-US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C1FAB-8075-0218-E867-9C37190B4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9716" y="5746071"/>
            <a:ext cx="4670176" cy="852260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lvl="1"/>
            <a:r>
              <a:rPr lang="en-US" sz="1800" dirty="0"/>
              <a:t>KPIs: Current Occupancy, Peak Occupancy, Alert State.</a:t>
            </a:r>
          </a:p>
          <a:p>
            <a:pPr lvl="1"/>
            <a:r>
              <a:rPr lang="en-US" sz="1800" dirty="0"/>
              <a:t>Trend lines + threshold detection.</a:t>
            </a:r>
          </a:p>
          <a:p>
            <a:pPr lvl="1"/>
            <a:r>
              <a:rPr lang="en-US" sz="1800" dirty="0"/>
              <a:t>Supports public‑health operational awareness.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C90B79-CB71-D398-8C17-DE90E5286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" y="371489"/>
            <a:ext cx="9144000" cy="472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98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0BED10-9CC4-4491-ED1C-035DC0058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205F04EC-0C38-5847-4523-81C37E8C63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2334" r="-1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B444DA-B8F3-70DB-857A-3A1B561C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941832"/>
            <a:ext cx="7879842" cy="20574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Ethical Framework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3241202"/>
            <a:ext cx="7879842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AB9D8-5FDA-7792-F65C-03DC86ECC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3502152"/>
            <a:ext cx="7879842" cy="2670048"/>
          </a:xfr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en-US" sz="1800" dirty="0">
                <a:solidFill>
                  <a:schemeClr val="bg1"/>
                </a:solidFill>
              </a:rPr>
              <a:t>No video storage, no faces, no identity inference.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NIST Privacy Framework + HIPAA-aligned handling.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Bias review + model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390486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6AB8F-D97B-F7B0-6EAE-CD4DBDA32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C514AA85-8478-934D-47BE-7C4F043A4F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22334" r="-1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9A5AEE-14A7-1F65-2902-E11F555D7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43D38-81E6-76EA-952A-778B8DB8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en-US" dirty="0"/>
              <a:t>Prototype demonstrates feasibility.</a:t>
            </a:r>
          </a:p>
          <a:p>
            <a:pPr lvl="1"/>
            <a:r>
              <a:rPr lang="en-US" dirty="0"/>
              <a:t>Supports infection‑prevention readiness.</a:t>
            </a:r>
          </a:p>
          <a:p>
            <a:pPr lvl="1"/>
            <a:r>
              <a:rPr lang="en-US" dirty="0"/>
              <a:t>Future work: transfer learning, more datasets, deployment.</a:t>
            </a:r>
          </a:p>
        </p:txBody>
      </p:sp>
    </p:spTree>
    <p:extLst>
      <p:ext uri="{BB962C8B-B14F-4D97-AF65-F5344CB8AC3E}">
        <p14:creationId xmlns:p14="http://schemas.microsoft.com/office/powerpoint/2010/main" val="1820109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</TotalTime>
  <Words>271</Words>
  <Application>Microsoft Office PowerPoint</Application>
  <PresentationFormat>On-screen Show (4:3)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2013 - 2022 Theme</vt:lpstr>
      <vt:lpstr>Privacy-Preserving AI for Crowd Density Monitoring  Capstone Project  DANL 490  Mahdin Rahman, Heavyn Harper, Julian Flemons </vt:lpstr>
      <vt:lpstr>Problem Statement</vt:lpstr>
      <vt:lpstr>Literature Review</vt:lpstr>
      <vt:lpstr>Data Sources</vt:lpstr>
      <vt:lpstr>Methodology</vt:lpstr>
      <vt:lpstr>Data Pipeline</vt:lpstr>
      <vt:lpstr>Model Results</vt:lpstr>
      <vt:lpstr>Python Visualization</vt:lpstr>
      <vt:lpstr>Density Map Comparison</vt:lpstr>
      <vt:lpstr>Tableau Dashboard</vt:lpstr>
      <vt:lpstr>Ethical Framework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 jalalah</cp:lastModifiedBy>
  <cp:revision>2</cp:revision>
  <dcterms:created xsi:type="dcterms:W3CDTF">2013-01-27T09:14:16Z</dcterms:created>
  <dcterms:modified xsi:type="dcterms:W3CDTF">2025-12-03T15:11:15Z</dcterms:modified>
  <cp:category/>
</cp:coreProperties>
</file>